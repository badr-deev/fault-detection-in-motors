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I, we addressed the fundamental challenge of raw vibration data quality. Our baseline dataset contained significant noise and interference. The feature space was unstructured, making it difficult to identify the key indicators of faults. A major concern was the risk of data leakage, where random train-test splits could artificially inflate performance metrics. Therefore, establishing a robust, reproducible baseline for simple binary detection (Healthy vs. Faulty) was critical before moving to more complex tasks.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involved a multi-step process. We used Empirical Mode Decomposition (EMD) to adaptively denoise the signal, specifically removing the high-frequency IMF1 component that masked low-frequency fault signatures. We then computed the vector magnitude from the triaxial data to reduce dimensionality while preserving total vibration energy. To maximize our training data, we segmented the 220 files into 800-sample windows with 50% overlap, resulting in over 2,400 training samples. Crucially, we implemented a zero-data-leakage protocol using 10-fold cross-validation with per-fold standardization, ensuring that no information from the test set influenced the training process. This guarantees deterministic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of Phase I were a successful, validated binary detection system. We demonstrated that our preprocessing pipeline effectively cleaned the signal and that our feature engineering process could reliably distinguish between healthy and faulty states. We also identified which feature sets performed best, such as the F6 set, which combined time and frequency domain features. Most importantly, our strict validation protocol proved that our results were reproducible and not artifacts of data leakage. This solid foundation allowed us to confidently move to the more complex multi-class problem in Phase II.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serves as a placeholder for a video demonstration. The video should visually show the raw vibration signal, the EMD decomposition process, the removal of the IMF1 component, and the resulting clean signal. It reinforces the effectiveness of the adaptive denoising technique.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II addressed the limitations of a simple binary classifier. Industrial maintenance requires knowing *what* kind of fault is occurring, not just *if* one exists. Our initial 1 kHz sampling rate was insufficient to capture high-frequency bearing defect signatures, risking aliasing. Furthermore, the O(N log N) complexity of EMD made it unsuitable for real-time applications on resource-limited edge devices. The goal evolved from 'is there a fault?' to 'what is the fault, and what is its predicted remaining life?' This required a more sophisticated, physics-aligned multi-class approach.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tackle these challenges, we moved to the MaFaulDa dataset, which offered a higher sampling rate. We decimated it to 3846 Hz, which was appropriate for capturing the targeted fault frequencies. We implemented tachometer-based RPM estimation to make our analysis aware of the machine's speed. Crucially, we designed 23 new features that were explicitly aligned with the physics of rotating machinery, such as directional vibration energy ratios and spectral shape descriptors tied to bearing fault frequencies. Finally, we enforced a strict, zero-data-leakage validation protocol using GroupShuffleSplit at the file level, ensuring that windows from the same operational run stayed together, preventing any temporal overlap between training and test sets. This is a cornerstone of physics-informed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of Phase II was rigorous and rooted in the physical reality of the system. When we analyzed the spectral features generated by our model, they perfectly matched known kinematic signatures. For example, an imbalance fault clearly showed a dominant peak at 1x RPM. Misalignment faults exhibited characteristic peaks at 2x and 3x RPM. Most importantly, bearing faults displayed the calculated Ball Pass Frequency Outer (BPFO) and Ball Pass Frequency Inner (BPFI) harmonics as predicted by the bearing geometry. This proves that our features and model learned the underlying physics, not just statistical noise, which is essential for trust in an industrial setting. Our explainable AI techniques confirmed this.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video placeholder should demonstrate the multi-class classification results. It could show a spectrogram or waterfall plot highlighting the different fault signatures as described in the previous slide. It might also include a brief visualization of the XAI analysis, like a Permutation Feature Importance chart, showing which features were most important for identifying each fault type.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III confronted the final, most challenging barriers. Standard FFT analysis fails under variable speed conditions because the fault frequencies shift across the frequency bins, causing smearing and loss of resolution. Traditional machine learning models, even with good features, can sometimes memorize dataset-specific noise patterns instead of the universal physical laws governing machinery. Manual feature engineering, while powerful, becomes a bottleneck as the complexity of the problem increases; it doesn't scale well. Finally, common data augmentation techniques like SMOTE can introduce synthetic data points that don't conform to the underlying physical process, degrading model integrity.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was a paradigm shift to a speed-invariant domain. We employed Order Tracking, converting the time-domain signal into the angular domain using the estimated RPM. This locks the fault frequencies to fixed angular positions, eliminating smearing. We then applied physics-constrained preprocessing steps like cross-axis scaling and logarithmic transforms. We designed a novel Spectral 1D-CNN architecture that operates directly on the order-tracked spectra. This allows the network to automatically learn the most relevant spectral patterns for fault diagnosis, bypassing the need for manual feature engineering. Finally, we maintained our rigorous validation standards with GroupKFold and introduced spectral-specific data augmentation techniques like jitter and masking to improve robustness without compromising physical validity.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of Phase III were exceptional and validate our approach. The model achieved 96.92% accuracy on a strictly held-out test set, with no evidence of overfitting, thanks to our leak-proof validation. For the critical Ball Fault class, the model achieved perfect precision and recall, which is vital for safety. The confusion matrix was analyzed and found to align well with mechanical expectations; for example, vertical and horizontal misalignments showed a slight overlap, which is physically plausible, while other fault types were clearly separated. Finally, we compared our result to a dummy classifier that simply guessed the majority class, which achieved only 13.04% accuracy, proving that our model learned meaningful patterns, not chance.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video placeholder should showcase the core innovation of Phase III. It could visualize the transformation from a time-domain signal with shifting peaks (under variable RPM) to a clean, order-tracked spectrum where the peaks are locked and clearly identifiable. It might also show a simplified animation of the 1D-CNN scanning the spectral bins to make its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research presented a clear evolutionary path. We started with a robust baseline for simple detection, then advanced to explainable multi-class diagnosis, and finally achieved state-of-the-art automation through deep learning in a speed-invariant domain. Throughout all phases, the central theme was the integration of physical laws into the AI pipeline. This work demonstrates that blind, purely data-driven approaches are insufficient for reliable, trustworthy industrial deployment. Physics-informed machine learning is not just beneficial; it is essential for building systems that engineers can trust and deploy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our research roadmap includes several exciting directions. First, we aim to optimize our models for deployment on edge hardware like FPGAs or custom PCBs, bringing real-time intelligence directly to the machine. Second, we plan to develop tacholess order tracking, where the rotational speed is inferred directly from the vibration harmonics, eliminating the need for a separate encoder sensor. Third, we will explore multimodal fusion, combining vibration data with acoustic emissions and thermal imaging for a more holistic view of machine health. Finally, the ultimate goal is to extend this diagnostic capability to prognostics, predicting the Remaining Useful Life (RUL) of components, enabling truly proactive maintenance scheduling.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ctrTitle"/>
          </p:nvPr>
        </p:nvSpPr>
        <p:spPr/>
        <p:txBody>
          <a:bodyPr/>
          <a:lstStyle/>
          <a:p>
            <a:pPr>
              <a:defRPr sz="3600" b="1">
                <a:solidFill>
                  <a:srgbClr val="1A1A75"/>
                </a:solidFill>
              </a:defRPr>
            </a:pPr>
            <a:r>
              <a:t>Physics-Guided AI for Industrial Predictive Maintenance</a:t>
            </a:r>
          </a:p>
        </p:txBody>
      </p:sp>
      <p:sp>
        <p:nvSpPr>
          <p:cNvPr id="3" name="Subtitle 2"/>
          <p:cNvSpPr>
            <a:spLocks noGrp="1"/>
          </p:cNvSpPr>
          <p:nvPr>
            <p:ph type="subTitle" idx="1"/>
          </p:nvPr>
        </p:nvSpPr>
        <p:spPr>
          <a:xfrm>
            <a:off x="1371600" y="2743200"/>
          </a:xfrm>
        </p:spPr>
        <p:txBody>
          <a:bodyPr/>
          <a:lstStyle/>
          <a:p>
            <a:pPr>
              <a:defRPr sz="1800">
                <a:solidFill>
                  <a:srgbClr val="000000"/>
                </a:solidFill>
              </a:defRPr>
            </a:pPr>
            <a:r>
              <a:t>PhD Defense Presentation</a:t>
            </a:r>
          </a:p>
          <a:p/>
          <a:p>
            <a:r>
              <a:t>Badr Mohammed Shehim &amp; Marwan Hamdi Sassi</a:t>
            </a:r>
          </a:p>
          <a:p>
            <a:r>
              <a:t>Supervisor: Eng. Hala Elhabrush</a:t>
            </a:r>
          </a:p>
          <a:p>
            <a:r>
              <a:t>University of Tripoli, Spring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 The Baseline Challenge</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 The Baseline Challenge</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Severe signal corruption &amp; high-frequency noise</a:t>
            </a:r>
          </a:p>
          <a:p>
            <a:pPr>
              <a:defRPr sz="2000">
                <a:solidFill>
                  <a:srgbClr val="000000"/>
                </a:solidFill>
              </a:defRPr>
            </a:pPr>
            <a:r>
              <a:t>• Unstructured feature space (no driving features)</a:t>
            </a:r>
          </a:p>
          <a:p>
            <a:pPr>
              <a:defRPr sz="2000">
                <a:solidFill>
                  <a:srgbClr val="000000"/>
                </a:solidFill>
              </a:defRPr>
            </a:pPr>
            <a:r>
              <a:t>• Risk of data leakage with random splits</a:t>
            </a:r>
          </a:p>
          <a:p>
            <a:pPr>
              <a:defRPr sz="2000">
                <a:solidFill>
                  <a:srgbClr val="000000"/>
                </a:solidFill>
              </a:defRPr>
            </a:pPr>
            <a:r>
              <a:t>• Need for a reproducible binary baseline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 Adaptive Denoising &amp; Validation</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 Adaptive Denoising &amp; Validation</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EMD denoising (remove IMF1 for low-freq isolation)</a:t>
            </a:r>
          </a:p>
          <a:p>
            <a:pPr>
              <a:defRPr sz="2000">
                <a:solidFill>
                  <a:srgbClr val="000000"/>
                </a:solidFill>
              </a:defRPr>
            </a:pPr>
            <a:r>
              <a:t>• Vector magnitude from triaxial data</a:t>
            </a:r>
          </a:p>
          <a:p>
            <a:pPr>
              <a:defRPr sz="2000">
                <a:solidFill>
                  <a:srgbClr val="000000"/>
                </a:solidFill>
              </a:defRPr>
            </a:pPr>
            <a:r>
              <a:t>• 2,400 samples from 220 files (50% overlap windows)</a:t>
            </a:r>
          </a:p>
          <a:p>
            <a:pPr>
              <a:defRPr sz="2000">
                <a:solidFill>
                  <a:srgbClr val="000000"/>
                </a:solidFill>
              </a:defRPr>
            </a:pPr>
            <a:r>
              <a:t>• Zero-leakage: 10-fold CV, per-fold scaling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 Proven Detection Baseline</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 Proven Detection Baseline</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Established a robust binary detection pipeline</a:t>
            </a:r>
          </a:p>
          <a:p>
            <a:pPr>
              <a:defRPr sz="2000">
                <a:solidFill>
                  <a:srgbClr val="000000"/>
                </a:solidFill>
              </a:defRPr>
            </a:pPr>
            <a:r>
              <a:t>• Identified optimal feature sets (e.g., F6)</a:t>
            </a:r>
          </a:p>
          <a:p>
            <a:pPr>
              <a:defRPr sz="2000">
                <a:solidFill>
                  <a:srgbClr val="000000"/>
                </a:solidFill>
              </a:defRPr>
            </a:pPr>
            <a:r>
              <a:t>• Validated deterministic reproducibility</a:t>
            </a:r>
          </a:p>
          <a:p>
            <a:pPr>
              <a:defRPr sz="2000">
                <a:solidFill>
                  <a:srgbClr val="000000"/>
                </a:solidFill>
              </a:defRPr>
            </a:pPr>
            <a:r>
              <a:t>• Transitioned to multi-class challenges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 Demonstration</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 Demonstration</a:t>
            </a:r>
          </a:p>
        </p:txBody>
      </p:sp>
      <p:sp>
        <p:nvSpPr>
          <p:cNvPr id="4" name="TextBox 3"/>
          <p:cNvSpPr txBox="1"/>
          <p:nvPr/>
        </p:nvSpPr>
        <p:spPr>
          <a:xfrm>
            <a:off x="914400" y="1371600"/>
            <a:ext cx="7315200" cy="4572000"/>
          </a:xfrm>
          <a:prstGeom prst="rect">
            <a:avLst/>
          </a:prstGeom>
          <a:noFill/>
        </p:spPr>
        <p:txBody>
          <a:bodyPr wrap="none">
            <a:spAutoFit/>
          </a:bodyPr>
          <a:lstStyle/>
          <a:p>
            <a:pPr algn="ctr">
              <a:defRPr sz="2400">
                <a:solidFill>
                  <a:srgbClr val="003366"/>
                </a:solidFill>
              </a:defRPr>
            </a:pPr>
            <a:r>
              <a:t>[Video of Phase I Signal Processing &amp; EMD Denoising]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 Beyond Binary Detection</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 Beyond Binary Detection</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Binary output lacks fault-type granularity</a:t>
            </a:r>
          </a:p>
          <a:p>
            <a:pPr>
              <a:defRPr sz="2000">
                <a:solidFill>
                  <a:srgbClr val="000000"/>
                </a:solidFill>
              </a:defRPr>
            </a:pPr>
            <a:r>
              <a:t>• 1 kHz sampling risks aliasing high-freq signatures</a:t>
            </a:r>
          </a:p>
          <a:p>
            <a:pPr>
              <a:defRPr sz="2000">
                <a:solidFill>
                  <a:srgbClr val="000000"/>
                </a:solidFill>
              </a:defRPr>
            </a:pPr>
            <a:r>
              <a:t>• EMD complexity bottlenecks real-time edge use</a:t>
            </a:r>
          </a:p>
          <a:p>
            <a:pPr>
              <a:defRPr sz="2000">
                <a:solidFill>
                  <a:srgbClr val="000000"/>
                </a:solidFill>
              </a:defRPr>
            </a:pPr>
            <a:r>
              <a:t>• Need shift from preventive to predictive PdM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 Physics-Aligned Multi-Class Diagnosis</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 Physics-Aligned Multi-Class Diagnosis</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Used MaFaulDa dataset (50kHz -&gt; 3846Hz)</a:t>
            </a:r>
          </a:p>
          <a:p>
            <a:pPr>
              <a:defRPr sz="2000">
                <a:solidFill>
                  <a:srgbClr val="000000"/>
                </a:solidFill>
              </a:defRPr>
            </a:pPr>
            <a:r>
              <a:t>• Tachometer-based RPM estimation &amp; tracking</a:t>
            </a:r>
          </a:p>
          <a:p>
            <a:pPr>
              <a:defRPr sz="2000">
                <a:solidFill>
                  <a:srgbClr val="000000"/>
                </a:solidFill>
              </a:defRPr>
            </a:pPr>
            <a:r>
              <a:t>• 23 physics-engineered features (energy ratios)</a:t>
            </a:r>
          </a:p>
          <a:p>
            <a:pPr>
              <a:defRPr sz="2000">
                <a:solidFill>
                  <a:srgbClr val="000000"/>
                </a:solidFill>
              </a:defRPr>
            </a:pPr>
            <a:r>
              <a:t>• File-level GroupShuffleSplit (no leakage)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 Harmonic Signatures Match Physics</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 Harmonic Signatures Match Physics</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Imbalance shows 1x RPM dominant peak</a:t>
            </a:r>
          </a:p>
          <a:p>
            <a:pPr>
              <a:defRPr sz="2000">
                <a:solidFill>
                  <a:srgbClr val="000000"/>
                </a:solidFill>
              </a:defRPr>
            </a:pPr>
            <a:r>
              <a:t>• Misalignment shows 2x / 3x RPM harmonics</a:t>
            </a:r>
          </a:p>
          <a:p>
            <a:pPr>
              <a:defRPr sz="2000">
                <a:solidFill>
                  <a:srgbClr val="000000"/>
                </a:solidFill>
              </a:defRPr>
            </a:pPr>
            <a:r>
              <a:t>• Bearing faults show BPFO/BPFI harmonics</a:t>
            </a:r>
          </a:p>
          <a:p>
            <a:pPr>
              <a:defRPr sz="2000">
                <a:solidFill>
                  <a:srgbClr val="000000"/>
                </a:solidFill>
              </a:defRPr>
            </a:pPr>
            <a:r>
              <a:t>• Features encode physics, not noise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 Demonstration</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 Demonstration</a:t>
            </a:r>
          </a:p>
        </p:txBody>
      </p:sp>
      <p:sp>
        <p:nvSpPr>
          <p:cNvPr id="4" name="TextBox 3"/>
          <p:cNvSpPr txBox="1"/>
          <p:nvPr/>
        </p:nvSpPr>
        <p:spPr>
          <a:xfrm>
            <a:off x="914400" y="1371600"/>
            <a:ext cx="7315200" cy="4572000"/>
          </a:xfrm>
          <a:prstGeom prst="rect">
            <a:avLst/>
          </a:prstGeom>
          <a:noFill/>
        </p:spPr>
        <p:txBody>
          <a:bodyPr wrap="none">
            <a:spAutoFit/>
          </a:bodyPr>
          <a:lstStyle/>
          <a:p>
            <a:pPr algn="ctr">
              <a:defRPr sz="2400">
                <a:solidFill>
                  <a:srgbClr val="003366"/>
                </a:solidFill>
              </a:defRPr>
            </a:pPr>
            <a:r>
              <a:t>[Video of Multi-Class Classification &amp; XAI Insights]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III: Limits of Standard FFT &amp; ML</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III: Limits of Standard FFT &amp; ML</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Variable RPM causes FFT frequency smearing</a:t>
            </a:r>
          </a:p>
          <a:p>
            <a:pPr>
              <a:defRPr sz="2000">
                <a:solidFill>
                  <a:srgbClr val="000000"/>
                </a:solidFill>
              </a:defRPr>
            </a:pPr>
            <a:r>
              <a:t>• Standard ML memorizes noise, not physics</a:t>
            </a:r>
          </a:p>
          <a:p>
            <a:pPr>
              <a:defRPr sz="2000">
                <a:solidFill>
                  <a:srgbClr val="000000"/>
                </a:solidFill>
              </a:defRPr>
            </a:pPr>
            <a:r>
              <a:t>• Manual feature engineering hits scalability ceiling</a:t>
            </a:r>
          </a:p>
          <a:p>
            <a:pPr>
              <a:defRPr sz="2000">
                <a:solidFill>
                  <a:srgbClr val="000000"/>
                </a:solidFill>
              </a:defRPr>
            </a:pPr>
            <a:r>
              <a:t>• Naive oversampling injects synthetic artifacts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III: Order-Tracking &amp; Spectral Deep Learning</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III: Order-Tracking &amp; Spectral Deep Learning</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Angular resampling (time -&gt; angle domain)</a:t>
            </a:r>
          </a:p>
          <a:p>
            <a:pPr>
              <a:defRPr sz="2000">
                <a:solidFill>
                  <a:srgbClr val="000000"/>
                </a:solidFill>
              </a:defRPr>
            </a:pPr>
            <a:r>
              <a:t>• Physics-constrained spectral preprocessing</a:t>
            </a:r>
          </a:p>
          <a:p>
            <a:pPr>
              <a:defRPr sz="2000">
                <a:solidFill>
                  <a:srgbClr val="000000"/>
                </a:solidFill>
              </a:defRPr>
            </a:pPr>
            <a:r>
              <a:t>• Spectral 1D-CNN for autonomous pattern recognition</a:t>
            </a:r>
          </a:p>
          <a:p>
            <a:pPr>
              <a:defRPr sz="2000">
                <a:solidFill>
                  <a:srgbClr val="000000"/>
                </a:solidFill>
              </a:defRPr>
            </a:pPr>
            <a:r>
              <a:t>• GroupKFold isolation &amp; spectral jitter masking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III: State-of-the-Art Performance</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III: State-of-the-Art Performance</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96.92% accuracy (strictly held-out test)</a:t>
            </a:r>
          </a:p>
          <a:p>
            <a:pPr>
              <a:defRPr sz="2000">
                <a:solidFill>
                  <a:srgbClr val="000000"/>
                </a:solidFill>
              </a:defRPr>
            </a:pPr>
            <a:r>
              <a:t>• Perfect precision/recall for Ball Faults</a:t>
            </a:r>
          </a:p>
          <a:p>
            <a:pPr>
              <a:defRPr sz="2000">
                <a:solidFill>
                  <a:srgbClr val="000000"/>
                </a:solidFill>
              </a:defRPr>
            </a:pPr>
            <a:r>
              <a:t>• Confusion matrix aligns with structural theory</a:t>
            </a:r>
          </a:p>
          <a:p>
            <a:pPr>
              <a:defRPr sz="2000">
                <a:solidFill>
                  <a:srgbClr val="000000"/>
                </a:solidFill>
              </a:defRPr>
            </a:pPr>
            <a:r>
              <a:t>• Dummy baseline: 13.04% (proves model learning)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Phase III: Demonstration</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Phase III: Demonstration</a:t>
            </a:r>
          </a:p>
        </p:txBody>
      </p:sp>
      <p:sp>
        <p:nvSpPr>
          <p:cNvPr id="4" name="TextBox 3"/>
          <p:cNvSpPr txBox="1"/>
          <p:nvPr/>
        </p:nvSpPr>
        <p:spPr>
          <a:xfrm>
            <a:off x="914400" y="1371600"/>
            <a:ext cx="7315200" cy="4572000"/>
          </a:xfrm>
          <a:prstGeom prst="rect">
            <a:avLst/>
          </a:prstGeom>
          <a:noFill/>
        </p:spPr>
        <p:txBody>
          <a:bodyPr wrap="none">
            <a:spAutoFit/>
          </a:bodyPr>
          <a:lstStyle/>
          <a:p>
            <a:pPr algn="ctr">
              <a:defRPr sz="2400">
                <a:solidFill>
                  <a:srgbClr val="003366"/>
                </a:solidFill>
              </a:defRPr>
            </a:pPr>
            <a:r>
              <a:t>[Video of Order Tracking &amp; Deep Learning Inference]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Conclusion: The Evolutionary Journey</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Conclusion: The Evolutionary Journey</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Phase I: Detection (Binary, Noise-Robust)</a:t>
            </a:r>
          </a:p>
          <a:p>
            <a:pPr>
              <a:defRPr sz="2000">
                <a:solidFill>
                  <a:srgbClr val="000000"/>
                </a:solidFill>
              </a:defRPr>
            </a:pPr>
            <a:r>
              <a:t>• Phase II: Diagnosis (Multi-Class, Explainable)</a:t>
            </a:r>
          </a:p>
          <a:p>
            <a:pPr>
              <a:defRPr sz="2000">
                <a:solidFill>
                  <a:srgbClr val="000000"/>
                </a:solidFill>
              </a:defRPr>
            </a:pPr>
            <a:r>
              <a:t>• Phase III: Automation (Deep, Speed-Invariant)</a:t>
            </a:r>
          </a:p>
          <a:p>
            <a:pPr>
              <a:defRPr sz="2000">
                <a:solidFill>
                  <a:srgbClr val="000000"/>
                </a:solidFill>
              </a:defRPr>
            </a:pPr>
            <a:r>
              <a:t>• Core Insight: Physics-Constrained ML is non-negotiable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0F0"/>
        </a:solidFill>
        <a:effectLst/>
      </p:bgPr>
    </p:bg>
    <p:spTree>
      <p:nvGrpSpPr>
        <p:cNvPr id="1" name=""/>
        <p:cNvGrpSpPr/>
        <p:nvPr/>
      </p:nvGrpSpPr>
      <p:grpSpPr/>
      <p:sp>
        <p:nvSpPr>
          <p:cNvPr id="2" name="Title 1"/>
          <p:cNvSpPr>
            <a:spLocks noGrp="1"/>
          </p:cNvSpPr>
          <p:nvPr>
            <p:ph type="title"/>
          </p:nvPr>
        </p:nvSpPr>
        <p:spPr/>
        <p:txBody>
          <a:bodyPr/>
          <a:lstStyle/>
          <a:p>
            <a:r>
              <a:t>Future Work: Towards Full Autonomy</a:t>
            </a:r>
          </a:p>
        </p:txBody>
      </p:sp>
      <p:sp>
        <p:nvSpPr>
          <p:cNvPr id="3" name="Rectangle 2"/>
          <p:cNvSpPr/>
          <p:nvPr/>
        </p:nvSpPr>
        <p:spPr>
          <a:xfrm>
            <a:off x="0" y="0"/>
            <a:ext cx="9144000" cy="914400"/>
          </a:xfrm>
          <a:prstGeom prst="rect">
            <a:avLst/>
          </a:prstGeom>
          <a:solidFill>
            <a:srgbClr val="1A1A75"/>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Future Work: Towards Full Autonomy</a:t>
            </a:r>
          </a:p>
        </p:txBody>
      </p:sp>
      <p:sp>
        <p:nvSpPr>
          <p:cNvPr id="4" name="TextBox 3"/>
          <p:cNvSpPr txBox="1"/>
          <p:nvPr/>
        </p:nvSpPr>
        <p:spPr>
          <a:xfrm>
            <a:off x="914400" y="1371600"/>
            <a:ext cx="7315200" cy="4572000"/>
          </a:xfrm>
          <a:prstGeom prst="rect">
            <a:avLst/>
          </a:prstGeom>
          <a:noFill/>
        </p:spPr>
        <p:txBody>
          <a:bodyPr wrap="none">
            <a:spAutoFit/>
          </a:bodyPr>
          <a:lstStyle/>
          <a:p/>
          <a:p>
            <a:pPr>
              <a:defRPr sz="2000">
                <a:solidFill>
                  <a:srgbClr val="000000"/>
                </a:solidFill>
              </a:defRPr>
            </a:pPr>
            <a:r>
              <a:t>• Edge Intelligence (FPGA, Custom PCB)</a:t>
            </a:r>
          </a:p>
          <a:p>
            <a:pPr>
              <a:defRPr sz="2000">
                <a:solidFill>
                  <a:srgbClr val="000000"/>
                </a:solidFill>
              </a:defRPr>
            </a:pPr>
            <a:r>
              <a:t>• Tacholess Order Tracking (RPM from harmonics)</a:t>
            </a:r>
          </a:p>
          <a:p>
            <a:pPr>
              <a:defRPr sz="2000">
                <a:solidFill>
                  <a:srgbClr val="000000"/>
                </a:solidFill>
              </a:defRPr>
            </a:pPr>
            <a:r>
              <a:t>• Multimodal Fusion (Acoustics, Thermal)</a:t>
            </a:r>
          </a:p>
          <a:p>
            <a:pPr>
              <a:defRPr sz="2000">
                <a:solidFill>
                  <a:srgbClr val="000000"/>
                </a:solidFill>
              </a:defRPr>
            </a:pPr>
            <a:r>
              <a:t>• Remaining Useful Life (RUL) Prognostics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